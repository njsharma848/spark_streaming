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67" r:id="rId4"/>
    <p:sldId id="269" r:id="rId5"/>
    <p:sldId id="270" r:id="rId6"/>
    <p:sldId id="258" r:id="rId7"/>
    <p:sldId id="259" r:id="rId8"/>
    <p:sldId id="268" r:id="rId9"/>
    <p:sldId id="260" r:id="rId10"/>
    <p:sldId id="261" r:id="rId11"/>
    <p:sldId id="262" r:id="rId12"/>
    <p:sldId id="266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3" d="100"/>
          <a:sy n="63" d="100"/>
        </p:scale>
        <p:origin x="138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5/12/2025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5/12/2025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1698185"/>
            <a:ext cx="7851648" cy="1828800"/>
          </a:xfrm>
        </p:spPr>
        <p:txBody>
          <a:bodyPr/>
          <a:lstStyle/>
          <a:p>
            <a:r>
              <a:rPr dirty="0"/>
              <a:t>Spark Streaming and Windowing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What is Spark Streaming?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+mj-lt"/>
              </a:rPr>
              <a:t>Spark Streaming is a real-time data processing engine built on Apache Spark.</a:t>
            </a:r>
          </a:p>
          <a:p>
            <a:r>
              <a:rPr dirty="0">
                <a:latin typeface="+mj-lt"/>
              </a:rPr>
              <a:t>It allows processing of continuous data streams in micro-batches.</a:t>
            </a:r>
          </a:p>
          <a:p>
            <a:r>
              <a:rPr dirty="0">
                <a:latin typeface="+mj-lt"/>
              </a:rPr>
              <a:t>Supports data sources like Kafka, Flume, HDFS, and more.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51398"/>
            <a:ext cx="8229600" cy="4773202"/>
          </a:xfrm>
        </p:spPr>
        <p:txBody>
          <a:bodyPr numCol="2">
            <a:normAutofit/>
          </a:bodyPr>
          <a:lstStyle/>
          <a:p>
            <a:pPr marL="0" indent="0">
              <a:buNone/>
            </a:pPr>
            <a:r>
              <a:rPr lang="en-IN" sz="1100" dirty="0">
                <a:solidFill>
                  <a:srgbClr val="002060"/>
                </a:solidFill>
                <a:latin typeface="+mj-lt"/>
              </a:rPr>
              <a:t>from </a:t>
            </a:r>
            <a:r>
              <a:rPr lang="en-IN" sz="1100" dirty="0" err="1">
                <a:solidFill>
                  <a:srgbClr val="002060"/>
                </a:solidFill>
                <a:latin typeface="+mj-lt"/>
              </a:rPr>
              <a:t>pyspark.sql</a:t>
            </a:r>
            <a:r>
              <a:rPr lang="en-IN" sz="1100" dirty="0">
                <a:solidFill>
                  <a:srgbClr val="002060"/>
                </a:solidFill>
                <a:latin typeface="+mj-lt"/>
              </a:rPr>
              <a:t> import </a:t>
            </a:r>
            <a:r>
              <a:rPr lang="en-IN" sz="1100" dirty="0" err="1">
                <a:solidFill>
                  <a:srgbClr val="002060"/>
                </a:solidFill>
                <a:latin typeface="+mj-lt"/>
              </a:rPr>
              <a:t>SparkSession</a:t>
            </a:r>
            <a:endParaRPr lang="en-IN" sz="1100" dirty="0">
              <a:solidFill>
                <a:srgbClr val="002060"/>
              </a:solidFill>
              <a:latin typeface="+mj-lt"/>
            </a:endParaRPr>
          </a:p>
          <a:p>
            <a:pPr marL="0" indent="0">
              <a:buNone/>
            </a:pPr>
            <a:r>
              <a:rPr lang="en-IN" sz="1100" dirty="0">
                <a:solidFill>
                  <a:srgbClr val="002060"/>
                </a:solidFill>
                <a:latin typeface="+mj-lt"/>
              </a:rPr>
              <a:t>from </a:t>
            </a:r>
            <a:r>
              <a:rPr lang="en-IN" sz="1100" dirty="0" err="1">
                <a:solidFill>
                  <a:srgbClr val="002060"/>
                </a:solidFill>
                <a:latin typeface="+mj-lt"/>
              </a:rPr>
              <a:t>pyspark.sql.functions</a:t>
            </a:r>
            <a:r>
              <a:rPr lang="en-IN" sz="1100" dirty="0">
                <a:solidFill>
                  <a:srgbClr val="002060"/>
                </a:solidFill>
                <a:latin typeface="+mj-lt"/>
              </a:rPr>
              <a:t> import </a:t>
            </a:r>
            <a:r>
              <a:rPr lang="en-IN" sz="1100" dirty="0" err="1">
                <a:solidFill>
                  <a:srgbClr val="002060"/>
                </a:solidFill>
                <a:latin typeface="+mj-lt"/>
              </a:rPr>
              <a:t>from_json</a:t>
            </a:r>
            <a:r>
              <a:rPr lang="en-IN" sz="1100" dirty="0">
                <a:solidFill>
                  <a:srgbClr val="002060"/>
                </a:solidFill>
                <a:latin typeface="+mj-lt"/>
              </a:rPr>
              <a:t>, col</a:t>
            </a:r>
          </a:p>
          <a:p>
            <a:pPr marL="0" indent="0">
              <a:buNone/>
            </a:pPr>
            <a:r>
              <a:rPr lang="en-IN" sz="1100" dirty="0">
                <a:solidFill>
                  <a:srgbClr val="002060"/>
                </a:solidFill>
                <a:latin typeface="+mj-lt"/>
              </a:rPr>
              <a:t>from </a:t>
            </a:r>
            <a:r>
              <a:rPr lang="en-IN" sz="1100" dirty="0" err="1">
                <a:solidFill>
                  <a:srgbClr val="002060"/>
                </a:solidFill>
                <a:latin typeface="+mj-lt"/>
              </a:rPr>
              <a:t>pyspark.sql.types</a:t>
            </a:r>
            <a:r>
              <a:rPr lang="en-IN" sz="1100" dirty="0">
                <a:solidFill>
                  <a:srgbClr val="002060"/>
                </a:solidFill>
                <a:latin typeface="+mj-lt"/>
              </a:rPr>
              <a:t> import </a:t>
            </a:r>
            <a:r>
              <a:rPr lang="en-IN" sz="1100" dirty="0" err="1">
                <a:solidFill>
                  <a:srgbClr val="002060"/>
                </a:solidFill>
                <a:latin typeface="+mj-lt"/>
              </a:rPr>
              <a:t>StructType</a:t>
            </a:r>
            <a:r>
              <a:rPr lang="en-IN" sz="1100" dirty="0">
                <a:solidFill>
                  <a:srgbClr val="002060"/>
                </a:solidFill>
                <a:latin typeface="+mj-lt"/>
              </a:rPr>
              <a:t>, </a:t>
            </a:r>
            <a:r>
              <a:rPr lang="en-IN" sz="1100" dirty="0" err="1">
                <a:solidFill>
                  <a:srgbClr val="002060"/>
                </a:solidFill>
                <a:latin typeface="+mj-lt"/>
              </a:rPr>
              <a:t>StringType</a:t>
            </a:r>
            <a:r>
              <a:rPr lang="en-IN" sz="1100" dirty="0">
                <a:solidFill>
                  <a:srgbClr val="002060"/>
                </a:solidFill>
                <a:latin typeface="+mj-lt"/>
              </a:rPr>
              <a:t>, </a:t>
            </a:r>
            <a:r>
              <a:rPr lang="en-IN" sz="1100" dirty="0" err="1">
                <a:solidFill>
                  <a:srgbClr val="002060"/>
                </a:solidFill>
                <a:latin typeface="+mj-lt"/>
              </a:rPr>
              <a:t>IntegerType</a:t>
            </a:r>
            <a:endParaRPr lang="en-IN" sz="1100" dirty="0">
              <a:solidFill>
                <a:srgbClr val="002060"/>
              </a:solidFill>
              <a:latin typeface="+mj-lt"/>
            </a:endParaRPr>
          </a:p>
          <a:p>
            <a:pPr marL="0" indent="0">
              <a:buNone/>
            </a:pPr>
            <a:endParaRPr lang="en-IN" sz="1100" dirty="0">
              <a:solidFill>
                <a:srgbClr val="002060"/>
              </a:solidFill>
              <a:latin typeface="+mj-lt"/>
            </a:endParaRPr>
          </a:p>
          <a:p>
            <a:pPr marL="0" indent="0">
              <a:buNone/>
            </a:pPr>
            <a:r>
              <a:rPr lang="en-IN" sz="1100" dirty="0">
                <a:solidFill>
                  <a:srgbClr val="002060"/>
                </a:solidFill>
                <a:latin typeface="+mj-lt"/>
              </a:rPr>
              <a:t># Step 1: Create Spark session</a:t>
            </a:r>
          </a:p>
          <a:p>
            <a:pPr marL="0" indent="0">
              <a:buNone/>
            </a:pPr>
            <a:r>
              <a:rPr lang="en-IN" sz="1100" dirty="0">
                <a:solidFill>
                  <a:srgbClr val="002060"/>
                </a:solidFill>
                <a:latin typeface="+mj-lt"/>
              </a:rPr>
              <a:t>spark = </a:t>
            </a:r>
            <a:r>
              <a:rPr lang="en-IN" sz="1100" dirty="0" err="1">
                <a:solidFill>
                  <a:srgbClr val="002060"/>
                </a:solidFill>
                <a:latin typeface="+mj-lt"/>
              </a:rPr>
              <a:t>SparkSession.builder</a:t>
            </a:r>
            <a:r>
              <a:rPr lang="en-IN" sz="1100" dirty="0">
                <a:solidFill>
                  <a:srgbClr val="002060"/>
                </a:solidFill>
                <a:latin typeface="+mj-lt"/>
              </a:rPr>
              <a:t> \</a:t>
            </a:r>
          </a:p>
          <a:p>
            <a:pPr marL="0" indent="0">
              <a:buNone/>
            </a:pPr>
            <a:r>
              <a:rPr lang="en-IN" sz="1100" dirty="0">
                <a:solidFill>
                  <a:srgbClr val="002060"/>
                </a:solidFill>
                <a:latin typeface="+mj-lt"/>
              </a:rPr>
              <a:t>    .</a:t>
            </a:r>
            <a:r>
              <a:rPr lang="en-IN" sz="1100" dirty="0" err="1">
                <a:solidFill>
                  <a:srgbClr val="002060"/>
                </a:solidFill>
                <a:latin typeface="+mj-lt"/>
              </a:rPr>
              <a:t>appName</a:t>
            </a:r>
            <a:r>
              <a:rPr lang="en-IN" sz="1100" dirty="0">
                <a:solidFill>
                  <a:srgbClr val="002060"/>
                </a:solidFill>
                <a:latin typeface="+mj-lt"/>
              </a:rPr>
              <a:t>("</a:t>
            </a:r>
            <a:r>
              <a:rPr lang="en-IN" sz="1100" dirty="0" err="1">
                <a:solidFill>
                  <a:srgbClr val="002060"/>
                </a:solidFill>
                <a:latin typeface="+mj-lt"/>
              </a:rPr>
              <a:t>KafkaJSONToParquet</a:t>
            </a:r>
            <a:r>
              <a:rPr lang="en-IN" sz="1100" dirty="0">
                <a:solidFill>
                  <a:srgbClr val="002060"/>
                </a:solidFill>
                <a:latin typeface="+mj-lt"/>
              </a:rPr>
              <a:t>") \</a:t>
            </a:r>
          </a:p>
          <a:p>
            <a:pPr marL="0" indent="0">
              <a:buNone/>
            </a:pPr>
            <a:r>
              <a:rPr lang="en-IN" sz="1100" dirty="0">
                <a:solidFill>
                  <a:srgbClr val="002060"/>
                </a:solidFill>
                <a:latin typeface="+mj-lt"/>
              </a:rPr>
              <a:t>    .</a:t>
            </a:r>
            <a:r>
              <a:rPr lang="en-IN" sz="1100" dirty="0" err="1">
                <a:solidFill>
                  <a:srgbClr val="002060"/>
                </a:solidFill>
                <a:latin typeface="+mj-lt"/>
              </a:rPr>
              <a:t>getOrCreate</a:t>
            </a:r>
            <a:r>
              <a:rPr lang="en-IN" sz="1100" dirty="0">
                <a:solidFill>
                  <a:srgbClr val="002060"/>
                </a:solidFill>
                <a:latin typeface="+mj-lt"/>
              </a:rPr>
              <a:t>()</a:t>
            </a:r>
          </a:p>
          <a:p>
            <a:pPr marL="0" indent="0">
              <a:buNone/>
            </a:pPr>
            <a:endParaRPr lang="en-IN" sz="1100" dirty="0">
              <a:solidFill>
                <a:srgbClr val="002060"/>
              </a:solidFill>
              <a:latin typeface="+mj-lt"/>
            </a:endParaRPr>
          </a:p>
          <a:p>
            <a:pPr marL="0" indent="0">
              <a:buNone/>
            </a:pPr>
            <a:r>
              <a:rPr lang="en-IN" sz="1100" dirty="0">
                <a:solidFill>
                  <a:srgbClr val="002060"/>
                </a:solidFill>
                <a:latin typeface="+mj-lt"/>
              </a:rPr>
              <a:t># Step 2: Define JSON schema (based on expected Kafka message structure)</a:t>
            </a:r>
          </a:p>
          <a:p>
            <a:pPr marL="0" indent="0">
              <a:buNone/>
            </a:pPr>
            <a:r>
              <a:rPr lang="en-IN" sz="1100" dirty="0">
                <a:solidFill>
                  <a:srgbClr val="002060"/>
                </a:solidFill>
                <a:latin typeface="+mj-lt"/>
              </a:rPr>
              <a:t>schema = </a:t>
            </a:r>
            <a:r>
              <a:rPr lang="en-IN" sz="1100" dirty="0" err="1">
                <a:solidFill>
                  <a:srgbClr val="002060"/>
                </a:solidFill>
                <a:latin typeface="+mj-lt"/>
              </a:rPr>
              <a:t>StructType</a:t>
            </a:r>
            <a:r>
              <a:rPr lang="en-IN" sz="1100" dirty="0">
                <a:solidFill>
                  <a:srgbClr val="002060"/>
                </a:solidFill>
                <a:latin typeface="+mj-lt"/>
              </a:rPr>
              <a:t>() \</a:t>
            </a:r>
          </a:p>
          <a:p>
            <a:pPr marL="0" indent="0">
              <a:buNone/>
            </a:pPr>
            <a:r>
              <a:rPr lang="en-IN" sz="1100" dirty="0">
                <a:solidFill>
                  <a:srgbClr val="002060"/>
                </a:solidFill>
                <a:latin typeface="+mj-lt"/>
              </a:rPr>
              <a:t>    .add("id", </a:t>
            </a:r>
            <a:r>
              <a:rPr lang="en-IN" sz="1100" dirty="0" err="1">
                <a:solidFill>
                  <a:srgbClr val="002060"/>
                </a:solidFill>
                <a:latin typeface="+mj-lt"/>
              </a:rPr>
              <a:t>IntegerType</a:t>
            </a:r>
            <a:r>
              <a:rPr lang="en-IN" sz="1100" dirty="0">
                <a:solidFill>
                  <a:srgbClr val="002060"/>
                </a:solidFill>
                <a:latin typeface="+mj-lt"/>
              </a:rPr>
              <a:t>()) \</a:t>
            </a:r>
          </a:p>
          <a:p>
            <a:pPr marL="0" indent="0">
              <a:buNone/>
            </a:pPr>
            <a:r>
              <a:rPr lang="en-IN" sz="1100" dirty="0">
                <a:solidFill>
                  <a:srgbClr val="002060"/>
                </a:solidFill>
                <a:latin typeface="+mj-lt"/>
              </a:rPr>
              <a:t>    .add("name", </a:t>
            </a:r>
            <a:r>
              <a:rPr lang="en-IN" sz="1100" dirty="0" err="1">
                <a:solidFill>
                  <a:srgbClr val="002060"/>
                </a:solidFill>
                <a:latin typeface="+mj-lt"/>
              </a:rPr>
              <a:t>StringType</a:t>
            </a:r>
            <a:r>
              <a:rPr lang="en-IN" sz="1100" dirty="0">
                <a:solidFill>
                  <a:srgbClr val="002060"/>
                </a:solidFill>
                <a:latin typeface="+mj-lt"/>
              </a:rPr>
              <a:t>()) \</a:t>
            </a:r>
          </a:p>
          <a:p>
            <a:pPr marL="0" indent="0">
              <a:buNone/>
            </a:pPr>
            <a:r>
              <a:rPr lang="en-IN" sz="1100" dirty="0">
                <a:solidFill>
                  <a:srgbClr val="002060"/>
                </a:solidFill>
                <a:latin typeface="+mj-lt"/>
              </a:rPr>
              <a:t>    .add("city", </a:t>
            </a:r>
            <a:r>
              <a:rPr lang="en-IN" sz="1100" dirty="0" err="1">
                <a:solidFill>
                  <a:srgbClr val="002060"/>
                </a:solidFill>
                <a:latin typeface="+mj-lt"/>
              </a:rPr>
              <a:t>StringType</a:t>
            </a:r>
            <a:r>
              <a:rPr lang="en-IN" sz="1100" dirty="0">
                <a:solidFill>
                  <a:srgbClr val="002060"/>
                </a:solidFill>
                <a:latin typeface="+mj-lt"/>
              </a:rPr>
              <a:t>())</a:t>
            </a:r>
          </a:p>
          <a:p>
            <a:pPr marL="0" indent="0">
              <a:buNone/>
            </a:pPr>
            <a:endParaRPr lang="en-IN" sz="1100" dirty="0">
              <a:solidFill>
                <a:srgbClr val="002060"/>
              </a:solidFill>
              <a:latin typeface="+mj-lt"/>
            </a:endParaRPr>
          </a:p>
          <a:p>
            <a:pPr marL="0" indent="0">
              <a:buNone/>
            </a:pPr>
            <a:r>
              <a:rPr lang="en-IN" sz="1100" dirty="0">
                <a:solidFill>
                  <a:srgbClr val="002060"/>
                </a:solidFill>
                <a:latin typeface="+mj-lt"/>
              </a:rPr>
              <a:t># Step 3: Read from Kafka</a:t>
            </a:r>
          </a:p>
          <a:p>
            <a:pPr marL="0" indent="0">
              <a:buNone/>
            </a:pPr>
            <a:r>
              <a:rPr lang="en-IN" sz="1100" dirty="0" err="1">
                <a:solidFill>
                  <a:srgbClr val="002060"/>
                </a:solidFill>
                <a:latin typeface="+mj-lt"/>
              </a:rPr>
              <a:t>kafka_df</a:t>
            </a:r>
            <a:r>
              <a:rPr lang="en-IN" sz="1100" dirty="0">
                <a:solidFill>
                  <a:srgbClr val="002060"/>
                </a:solidFill>
                <a:latin typeface="+mj-lt"/>
              </a:rPr>
              <a:t> = </a:t>
            </a:r>
            <a:r>
              <a:rPr lang="en-IN" sz="1100" dirty="0" err="1">
                <a:solidFill>
                  <a:srgbClr val="002060"/>
                </a:solidFill>
                <a:latin typeface="+mj-lt"/>
              </a:rPr>
              <a:t>spark.readStream</a:t>
            </a:r>
            <a:r>
              <a:rPr lang="en-IN" sz="1100" dirty="0">
                <a:solidFill>
                  <a:srgbClr val="002060"/>
                </a:solidFill>
                <a:latin typeface="+mj-lt"/>
              </a:rPr>
              <a:t> \</a:t>
            </a:r>
          </a:p>
          <a:p>
            <a:pPr marL="0" indent="0">
              <a:buNone/>
            </a:pPr>
            <a:r>
              <a:rPr lang="en-IN" sz="1100" dirty="0">
                <a:solidFill>
                  <a:srgbClr val="002060"/>
                </a:solidFill>
                <a:latin typeface="+mj-lt"/>
              </a:rPr>
              <a:t>    .format("</a:t>
            </a:r>
            <a:r>
              <a:rPr lang="en-IN" sz="1100" dirty="0" err="1">
                <a:solidFill>
                  <a:srgbClr val="002060"/>
                </a:solidFill>
                <a:latin typeface="+mj-lt"/>
              </a:rPr>
              <a:t>kafka</a:t>
            </a:r>
            <a:r>
              <a:rPr lang="en-IN" sz="1100" dirty="0">
                <a:solidFill>
                  <a:srgbClr val="002060"/>
                </a:solidFill>
                <a:latin typeface="+mj-lt"/>
              </a:rPr>
              <a:t>") \</a:t>
            </a:r>
          </a:p>
          <a:p>
            <a:pPr marL="0" indent="0">
              <a:buNone/>
            </a:pPr>
            <a:r>
              <a:rPr lang="en-IN" sz="1100" dirty="0">
                <a:solidFill>
                  <a:srgbClr val="002060"/>
                </a:solidFill>
                <a:latin typeface="+mj-lt"/>
              </a:rPr>
              <a:t>    .option("</a:t>
            </a:r>
            <a:r>
              <a:rPr lang="en-IN" sz="1100" dirty="0" err="1">
                <a:solidFill>
                  <a:srgbClr val="002060"/>
                </a:solidFill>
                <a:latin typeface="+mj-lt"/>
              </a:rPr>
              <a:t>kafka.bootstrap.servers</a:t>
            </a:r>
            <a:r>
              <a:rPr lang="en-IN" sz="1100" dirty="0">
                <a:solidFill>
                  <a:srgbClr val="002060"/>
                </a:solidFill>
                <a:latin typeface="+mj-lt"/>
              </a:rPr>
              <a:t>", "localhost:9092") \</a:t>
            </a:r>
          </a:p>
          <a:p>
            <a:pPr marL="0" indent="0">
              <a:buNone/>
            </a:pPr>
            <a:r>
              <a:rPr lang="en-IN" sz="1100" dirty="0">
                <a:solidFill>
                  <a:srgbClr val="002060"/>
                </a:solidFill>
                <a:latin typeface="+mj-lt"/>
              </a:rPr>
              <a:t>    .option("subscribe", "test-topic") \</a:t>
            </a:r>
          </a:p>
          <a:p>
            <a:pPr marL="0" indent="0">
              <a:buNone/>
            </a:pPr>
            <a:r>
              <a:rPr lang="en-IN" sz="1100" dirty="0">
                <a:solidFill>
                  <a:srgbClr val="002060"/>
                </a:solidFill>
                <a:latin typeface="+mj-lt"/>
              </a:rPr>
              <a:t>    .load()</a:t>
            </a:r>
          </a:p>
          <a:p>
            <a:pPr marL="0" indent="0">
              <a:buNone/>
            </a:pPr>
            <a:r>
              <a:rPr lang="en-IN" sz="1100" dirty="0">
                <a:solidFill>
                  <a:srgbClr val="002060"/>
                </a:solidFill>
                <a:latin typeface="+mj-lt"/>
              </a:rPr>
              <a:t>Step 4: Extract value as STRING and parse JSON</a:t>
            </a:r>
          </a:p>
          <a:p>
            <a:pPr marL="0" indent="0">
              <a:buNone/>
            </a:pPr>
            <a:r>
              <a:rPr lang="en-IN" sz="1100" dirty="0" err="1">
                <a:solidFill>
                  <a:srgbClr val="002060"/>
                </a:solidFill>
                <a:latin typeface="+mj-lt"/>
              </a:rPr>
              <a:t>json_df</a:t>
            </a:r>
            <a:r>
              <a:rPr lang="en-IN" sz="1100" dirty="0">
                <a:solidFill>
                  <a:srgbClr val="002060"/>
                </a:solidFill>
                <a:latin typeface="+mj-lt"/>
              </a:rPr>
              <a:t> = </a:t>
            </a:r>
            <a:r>
              <a:rPr lang="en-IN" sz="1100" dirty="0" err="1">
                <a:solidFill>
                  <a:srgbClr val="002060"/>
                </a:solidFill>
                <a:latin typeface="+mj-lt"/>
              </a:rPr>
              <a:t>kafka_df.selectExpr</a:t>
            </a:r>
            <a:r>
              <a:rPr lang="en-IN" sz="1100" dirty="0">
                <a:solidFill>
                  <a:srgbClr val="002060"/>
                </a:solidFill>
                <a:latin typeface="+mj-lt"/>
              </a:rPr>
              <a:t>("CAST(value AS STRING) as message") \</a:t>
            </a:r>
          </a:p>
          <a:p>
            <a:pPr marL="0" indent="0">
              <a:buNone/>
            </a:pPr>
            <a:r>
              <a:rPr lang="en-IN" sz="1100" dirty="0">
                <a:solidFill>
                  <a:srgbClr val="002060"/>
                </a:solidFill>
                <a:latin typeface="+mj-lt"/>
              </a:rPr>
              <a:t>    .</a:t>
            </a:r>
            <a:r>
              <a:rPr lang="en-IN" sz="1100" dirty="0" err="1">
                <a:solidFill>
                  <a:srgbClr val="002060"/>
                </a:solidFill>
                <a:latin typeface="+mj-lt"/>
              </a:rPr>
              <a:t>withColumn</a:t>
            </a:r>
            <a:r>
              <a:rPr lang="en-IN" sz="1100" dirty="0">
                <a:solidFill>
                  <a:srgbClr val="002060"/>
                </a:solidFill>
                <a:latin typeface="+mj-lt"/>
              </a:rPr>
              <a:t>("data", </a:t>
            </a:r>
            <a:r>
              <a:rPr lang="en-IN" sz="1100" dirty="0" err="1">
                <a:solidFill>
                  <a:srgbClr val="002060"/>
                </a:solidFill>
                <a:latin typeface="+mj-lt"/>
              </a:rPr>
              <a:t>from_json</a:t>
            </a:r>
            <a:r>
              <a:rPr lang="en-IN" sz="1100" dirty="0">
                <a:solidFill>
                  <a:srgbClr val="002060"/>
                </a:solidFill>
                <a:latin typeface="+mj-lt"/>
              </a:rPr>
              <a:t>(col("message"), schema)) \</a:t>
            </a:r>
          </a:p>
          <a:p>
            <a:pPr marL="0" indent="0">
              <a:buNone/>
            </a:pPr>
            <a:r>
              <a:rPr lang="en-IN" sz="1100" dirty="0">
                <a:solidFill>
                  <a:srgbClr val="002060"/>
                </a:solidFill>
                <a:latin typeface="+mj-lt"/>
              </a:rPr>
              <a:t>    .select("data.*")  # Optional: Expand fields directly</a:t>
            </a:r>
          </a:p>
          <a:p>
            <a:pPr marL="0" indent="0">
              <a:buNone/>
            </a:pPr>
            <a:endParaRPr lang="en-IN" sz="1100" dirty="0">
              <a:solidFill>
                <a:srgbClr val="002060"/>
              </a:solidFill>
              <a:latin typeface="+mj-lt"/>
            </a:endParaRPr>
          </a:p>
          <a:p>
            <a:pPr marL="0" indent="0">
              <a:buNone/>
            </a:pPr>
            <a:r>
              <a:rPr lang="en-IN" sz="1100" dirty="0">
                <a:solidFill>
                  <a:srgbClr val="002060"/>
                </a:solidFill>
                <a:latin typeface="+mj-lt"/>
              </a:rPr>
              <a:t># Step 5: Write to Parquet</a:t>
            </a:r>
          </a:p>
          <a:p>
            <a:pPr marL="0" indent="0">
              <a:buNone/>
            </a:pPr>
            <a:r>
              <a:rPr lang="en-IN" sz="1100" dirty="0">
                <a:solidFill>
                  <a:srgbClr val="002060"/>
                </a:solidFill>
                <a:latin typeface="+mj-lt"/>
              </a:rPr>
              <a:t>query = </a:t>
            </a:r>
            <a:r>
              <a:rPr lang="en-IN" sz="1100" dirty="0" err="1">
                <a:solidFill>
                  <a:srgbClr val="002060"/>
                </a:solidFill>
                <a:latin typeface="+mj-lt"/>
              </a:rPr>
              <a:t>json_df.writeStream</a:t>
            </a:r>
            <a:r>
              <a:rPr lang="en-IN" sz="1100" dirty="0">
                <a:solidFill>
                  <a:srgbClr val="002060"/>
                </a:solidFill>
                <a:latin typeface="+mj-lt"/>
              </a:rPr>
              <a:t> \</a:t>
            </a:r>
          </a:p>
          <a:p>
            <a:pPr marL="0" indent="0">
              <a:buNone/>
            </a:pPr>
            <a:r>
              <a:rPr lang="en-IN" sz="1100" dirty="0">
                <a:solidFill>
                  <a:srgbClr val="002060"/>
                </a:solidFill>
                <a:latin typeface="+mj-lt"/>
              </a:rPr>
              <a:t>    .format("parquet") \</a:t>
            </a:r>
          </a:p>
          <a:p>
            <a:pPr marL="0" indent="0">
              <a:buNone/>
            </a:pPr>
            <a:r>
              <a:rPr lang="en-IN" sz="1100" dirty="0">
                <a:solidFill>
                  <a:srgbClr val="002060"/>
                </a:solidFill>
                <a:latin typeface="+mj-lt"/>
              </a:rPr>
              <a:t>    .option("path", "/path/to/output/parquet") \</a:t>
            </a:r>
          </a:p>
          <a:p>
            <a:pPr marL="0" indent="0">
              <a:buNone/>
            </a:pPr>
            <a:r>
              <a:rPr lang="en-IN" sz="1100" dirty="0">
                <a:solidFill>
                  <a:srgbClr val="002060"/>
                </a:solidFill>
                <a:latin typeface="+mj-lt"/>
              </a:rPr>
              <a:t>    .option("</a:t>
            </a:r>
            <a:r>
              <a:rPr lang="en-IN" sz="1100" dirty="0" err="1">
                <a:solidFill>
                  <a:srgbClr val="002060"/>
                </a:solidFill>
                <a:latin typeface="+mj-lt"/>
              </a:rPr>
              <a:t>checkpointLocation</a:t>
            </a:r>
            <a:r>
              <a:rPr lang="en-IN" sz="1100" dirty="0">
                <a:solidFill>
                  <a:srgbClr val="002060"/>
                </a:solidFill>
                <a:latin typeface="+mj-lt"/>
              </a:rPr>
              <a:t>", "/path/to/checkpoint/</a:t>
            </a:r>
            <a:r>
              <a:rPr lang="en-IN" sz="1100" dirty="0" err="1">
                <a:solidFill>
                  <a:srgbClr val="002060"/>
                </a:solidFill>
                <a:latin typeface="+mj-lt"/>
              </a:rPr>
              <a:t>dir</a:t>
            </a:r>
            <a:r>
              <a:rPr lang="en-IN" sz="1100" dirty="0">
                <a:solidFill>
                  <a:srgbClr val="002060"/>
                </a:solidFill>
                <a:latin typeface="+mj-lt"/>
              </a:rPr>
              <a:t>") \</a:t>
            </a:r>
          </a:p>
          <a:p>
            <a:pPr marL="0" indent="0">
              <a:buNone/>
            </a:pPr>
            <a:r>
              <a:rPr lang="en-IN" sz="1100" dirty="0">
                <a:solidFill>
                  <a:srgbClr val="002060"/>
                </a:solidFill>
                <a:latin typeface="+mj-lt"/>
              </a:rPr>
              <a:t>    .</a:t>
            </a:r>
            <a:r>
              <a:rPr lang="en-IN" sz="1100" dirty="0" err="1">
                <a:solidFill>
                  <a:srgbClr val="002060"/>
                </a:solidFill>
                <a:latin typeface="+mj-lt"/>
              </a:rPr>
              <a:t>outputMode</a:t>
            </a:r>
            <a:r>
              <a:rPr lang="en-IN" sz="1100" dirty="0">
                <a:solidFill>
                  <a:srgbClr val="002060"/>
                </a:solidFill>
                <a:latin typeface="+mj-lt"/>
              </a:rPr>
              <a:t>("append") \</a:t>
            </a:r>
          </a:p>
          <a:p>
            <a:pPr marL="0" indent="0">
              <a:buNone/>
            </a:pPr>
            <a:r>
              <a:rPr lang="en-IN" sz="1100" dirty="0">
                <a:solidFill>
                  <a:srgbClr val="002060"/>
                </a:solidFill>
                <a:latin typeface="+mj-lt"/>
              </a:rPr>
              <a:t>    .start()</a:t>
            </a:r>
          </a:p>
          <a:p>
            <a:pPr marL="0" indent="0">
              <a:buNone/>
            </a:pPr>
            <a:endParaRPr lang="en-IN" sz="1100" dirty="0">
              <a:solidFill>
                <a:srgbClr val="002060"/>
              </a:solidFill>
              <a:latin typeface="+mj-lt"/>
            </a:endParaRPr>
          </a:p>
          <a:p>
            <a:pPr marL="0" indent="0">
              <a:buNone/>
            </a:pPr>
            <a:r>
              <a:rPr lang="en-IN" sz="1100" dirty="0" err="1">
                <a:solidFill>
                  <a:srgbClr val="002060"/>
                </a:solidFill>
                <a:latin typeface="+mj-lt"/>
              </a:rPr>
              <a:t>query.awaitTermination</a:t>
            </a:r>
            <a:r>
              <a:rPr lang="en-IN" sz="1100" dirty="0">
                <a:solidFill>
                  <a:srgbClr val="002060"/>
                </a:solidFill>
                <a:latin typeface="+mj-lt"/>
              </a:rPr>
              <a:t>()</a:t>
            </a:r>
          </a:p>
          <a:p>
            <a:pPr marL="0" indent="0">
              <a:buNone/>
            </a:pPr>
            <a:endParaRPr sz="1100" dirty="0">
              <a:solidFill>
                <a:srgbClr val="002060"/>
              </a:solidFill>
              <a:latin typeface="+mj-lt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3A0BAC8B-CBF8-F516-7F65-90345C56EA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59940" y="757759"/>
            <a:ext cx="8229600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effectLst/>
              </a:rPr>
              <a:t>PySpark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effectLst/>
              </a:rPr>
              <a:t> Code: Kafka → JSON Parsing → Parquet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1743544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51398"/>
            <a:ext cx="8229600" cy="4773202"/>
          </a:xfrm>
        </p:spPr>
        <p:txBody>
          <a:bodyPr numCol="1">
            <a:normAutofit/>
          </a:bodyPr>
          <a:lstStyle/>
          <a:p>
            <a:pPr marL="0" indent="0">
              <a:buNone/>
            </a:pPr>
            <a:r>
              <a:rPr lang="en-US" sz="1800" b="1" dirty="0">
                <a:latin typeface="+mj-lt"/>
              </a:rPr>
              <a:t>Checkpointing</a:t>
            </a:r>
            <a:r>
              <a:rPr lang="en-US" sz="1800" dirty="0">
                <a:latin typeface="+mj-lt"/>
              </a:rPr>
              <a:t> is the process of saving the </a:t>
            </a:r>
            <a:r>
              <a:rPr lang="en-US" sz="1800" b="1" dirty="0">
                <a:latin typeface="+mj-lt"/>
              </a:rPr>
              <a:t>intermediate state and progress</a:t>
            </a:r>
            <a:r>
              <a:rPr lang="en-US" sz="1800" dirty="0">
                <a:latin typeface="+mj-lt"/>
              </a:rPr>
              <a:t> of a streaming application to </a:t>
            </a:r>
            <a:r>
              <a:rPr lang="en-US" sz="1800" b="1" dirty="0">
                <a:latin typeface="+mj-lt"/>
              </a:rPr>
              <a:t>reliable storage</a:t>
            </a:r>
            <a:r>
              <a:rPr lang="en-US" sz="1800" dirty="0">
                <a:latin typeface="+mj-lt"/>
              </a:rPr>
              <a:t>, enabling recovery from failures.</a:t>
            </a:r>
          </a:p>
          <a:p>
            <a:pPr marL="0" indent="0">
              <a:buNone/>
            </a:pPr>
            <a:endParaRPr lang="en-US" sz="1800" dirty="0">
              <a:latin typeface="+mj-lt"/>
            </a:endParaRPr>
          </a:p>
          <a:p>
            <a:pPr marL="0" indent="0">
              <a:buNone/>
            </a:pPr>
            <a:r>
              <a:rPr lang="en-US" sz="1800" b="1" dirty="0">
                <a:latin typeface="+mj-lt"/>
              </a:rPr>
              <a:t>Why is it Needed?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>
                <a:latin typeface="+mj-lt"/>
              </a:rPr>
              <a:t>Recover</a:t>
            </a:r>
            <a:r>
              <a:rPr lang="en-US" sz="1800" dirty="0">
                <a:latin typeface="+mj-lt"/>
              </a:rPr>
              <a:t> from driver/node failures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>
                <a:latin typeface="+mj-lt"/>
              </a:rPr>
              <a:t>Maintain state</a:t>
            </a:r>
            <a:r>
              <a:rPr lang="en-US" sz="1800" dirty="0">
                <a:latin typeface="+mj-lt"/>
              </a:rPr>
              <a:t> across batches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>
                <a:latin typeface="+mj-lt"/>
              </a:rPr>
              <a:t>Support stateful ops</a:t>
            </a:r>
            <a:r>
              <a:rPr lang="en-US" sz="1800" dirty="0">
                <a:latin typeface="+mj-lt"/>
              </a:rPr>
              <a:t> like windowing, aggregation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+mj-lt"/>
              </a:rPr>
              <a:t>Ensure </a:t>
            </a:r>
            <a:r>
              <a:rPr lang="en-US" sz="1800" b="1" dirty="0">
                <a:latin typeface="+mj-lt"/>
              </a:rPr>
              <a:t>exactly-once guarantees</a:t>
            </a:r>
            <a:endParaRPr lang="en-US" sz="1800" dirty="0">
              <a:latin typeface="+mj-lt"/>
            </a:endParaRPr>
          </a:p>
          <a:p>
            <a:pPr marL="0" indent="0">
              <a:buNone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indent="0">
              <a:buNone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Types of Checkpointing</a:t>
            </a:r>
          </a:p>
          <a:p>
            <a:pPr marL="0" indent="0">
              <a:buNone/>
            </a:pPr>
            <a:endParaRPr lang="en-US" sz="1800" dirty="0">
              <a:latin typeface="+mj-lt"/>
            </a:endParaRPr>
          </a:p>
          <a:p>
            <a:pPr marL="0" indent="0">
              <a:buNone/>
            </a:pPr>
            <a:endParaRPr sz="1800" dirty="0">
              <a:latin typeface="+mj-lt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3A0BAC8B-CBF8-F516-7F65-90345C56EA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59940" y="884145"/>
            <a:ext cx="8229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IN" sz="2400" b="1" dirty="0"/>
              <a:t>Checkpointing in Spark Streaming</a:t>
            </a:r>
            <a:endParaRPr kumimoji="0" lang="en-US" altLang="en-US" sz="54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E687802F-BDB0-32D4-3883-C77293FFA7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6454562"/>
              </p:ext>
            </p:extLst>
          </p:nvPr>
        </p:nvGraphicFramePr>
        <p:xfrm>
          <a:off x="508000" y="4841081"/>
          <a:ext cx="8229600" cy="146304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695036079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188483436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sz="1800" b="1" dirty="0">
                          <a:latin typeface="+mj-lt"/>
                        </a:rPr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1" dirty="0">
                          <a:latin typeface="+mj-lt"/>
                        </a:rPr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078024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800" b="1">
                          <a:latin typeface="+mj-lt"/>
                        </a:rPr>
                        <a:t>Metadata</a:t>
                      </a:r>
                      <a:endParaRPr lang="en-IN" sz="180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+mj-lt"/>
                        </a:rPr>
                        <a:t>Saves query info (DAG, offsets, config)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562438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800" b="1" dirty="0">
                          <a:latin typeface="+mj-lt"/>
                        </a:rPr>
                        <a:t>Data (RDD)</a:t>
                      </a:r>
                      <a:endParaRPr lang="en-IN" sz="180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+mj-lt"/>
                        </a:rPr>
                        <a:t>Stores data lineage for </a:t>
                      </a:r>
                      <a:r>
                        <a:rPr lang="en-IN" sz="1800" dirty="0" err="1">
                          <a:latin typeface="+mj-lt"/>
                        </a:rPr>
                        <a:t>recomputation</a:t>
                      </a:r>
                      <a:endParaRPr lang="en-IN" sz="180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914606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800" b="1">
                          <a:latin typeface="+mj-lt"/>
                        </a:rPr>
                        <a:t>State</a:t>
                      </a:r>
                      <a:endParaRPr lang="en-IN" sz="180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+mj-lt"/>
                        </a:rPr>
                        <a:t>Saves state info for stateful aggregations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6766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45832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>
            <a:extLst>
              <a:ext uri="{FF2B5EF4-FFF2-40B4-BE49-F238E27FC236}">
                <a16:creationId xmlns:a16="http://schemas.microsoft.com/office/drawing/2014/main" id="{3A0BAC8B-CBF8-F516-7F65-90345C56EA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20900" y="680945"/>
            <a:ext cx="8229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IN" sz="2400" b="1" dirty="0"/>
              <a:t>How to enable Checkpointing in Spark Streaming?</a:t>
            </a:r>
            <a:endParaRPr kumimoji="0" lang="en-US" altLang="en-US" sz="54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03D5D7CB-E97E-568A-62DB-8E6E84297A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400" y="5347919"/>
            <a:ext cx="4450449" cy="132343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Mandatory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for: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Aggregations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Windowed queries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Joins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mapGroupsWithState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or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flatMapGroupsWithState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F24EE7B7-9C66-9806-09D4-2CB51C7807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0000" y="5385305"/>
            <a:ext cx="3632854" cy="107721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Best Practices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Use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durable storage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HDFS / ADLS / S3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Don’t delete checkpoint folder manually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Keep path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unique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for each stream</a:t>
            </a:r>
          </a:p>
        </p:txBody>
      </p:sp>
      <p:sp>
        <p:nvSpPr>
          <p:cNvPr id="13" name="Rectangle 8">
            <a:extLst>
              <a:ext uri="{FF2B5EF4-FFF2-40B4-BE49-F238E27FC236}">
                <a16:creationId xmlns:a16="http://schemas.microsoft.com/office/drawing/2014/main" id="{8AC90D8C-6E30-E0C7-5F5E-6A61752B42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" y="1218496"/>
            <a:ext cx="8331200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Step-by-Step Setup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Choose a persistent storage path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Recommended: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HDFS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Azure Data Lake (ADLS)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Amazon S3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or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other   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000" b="1" dirty="0">
                <a:latin typeface="+mj-lt"/>
              </a:rPr>
              <a:t>  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distributed file systems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Avoid: local filesystem (not fault-tolerant)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Add .option("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checkpointLocation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", "/path") in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writeStream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8EB6846-518A-D521-EEB7-677A1220F838}"/>
              </a:ext>
            </a:extLst>
          </p:cNvPr>
          <p:cNvSpPr txBox="1"/>
          <p:nvPr/>
        </p:nvSpPr>
        <p:spPr>
          <a:xfrm>
            <a:off x="427860" y="3283635"/>
            <a:ext cx="6295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+mj-lt"/>
              </a:rPr>
              <a:t>Sample Code (Kafka to Parquet with checkpointing)</a:t>
            </a:r>
            <a:endParaRPr lang="en-IN" b="1" dirty="0">
              <a:solidFill>
                <a:srgbClr val="0070C0"/>
              </a:solidFill>
              <a:latin typeface="+mj-l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A5F6AFF-08E8-A647-F142-AFE855F4327A}"/>
              </a:ext>
            </a:extLst>
          </p:cNvPr>
          <p:cNvSpPr txBox="1"/>
          <p:nvPr/>
        </p:nvSpPr>
        <p:spPr>
          <a:xfrm>
            <a:off x="744220" y="3637618"/>
            <a:ext cx="620522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solidFill>
                  <a:srgbClr val="002060"/>
                </a:solidFill>
                <a:latin typeface="+mj-lt"/>
              </a:rPr>
              <a:t>query = </a:t>
            </a:r>
            <a:r>
              <a:rPr lang="en-IN" sz="1400" dirty="0" err="1">
                <a:solidFill>
                  <a:srgbClr val="002060"/>
                </a:solidFill>
                <a:latin typeface="+mj-lt"/>
              </a:rPr>
              <a:t>parsed_df.writeStream</a:t>
            </a:r>
            <a:r>
              <a:rPr lang="en-IN" sz="1400" dirty="0">
                <a:solidFill>
                  <a:srgbClr val="002060"/>
                </a:solidFill>
                <a:latin typeface="+mj-lt"/>
              </a:rPr>
              <a:t> \</a:t>
            </a:r>
          </a:p>
          <a:p>
            <a:r>
              <a:rPr lang="en-IN" sz="1400" dirty="0">
                <a:solidFill>
                  <a:srgbClr val="002060"/>
                </a:solidFill>
                <a:latin typeface="+mj-lt"/>
              </a:rPr>
              <a:t>    .format("parquet") \</a:t>
            </a:r>
          </a:p>
          <a:p>
            <a:r>
              <a:rPr lang="en-IN" sz="1400" dirty="0">
                <a:solidFill>
                  <a:srgbClr val="002060"/>
                </a:solidFill>
                <a:latin typeface="+mj-lt"/>
              </a:rPr>
              <a:t>    .</a:t>
            </a:r>
            <a:r>
              <a:rPr lang="en-IN" sz="1400" dirty="0" err="1">
                <a:solidFill>
                  <a:srgbClr val="002060"/>
                </a:solidFill>
                <a:latin typeface="+mj-lt"/>
              </a:rPr>
              <a:t>outputMode</a:t>
            </a:r>
            <a:r>
              <a:rPr lang="en-IN" sz="1400" dirty="0">
                <a:solidFill>
                  <a:srgbClr val="002060"/>
                </a:solidFill>
                <a:latin typeface="+mj-lt"/>
              </a:rPr>
              <a:t>("append") \</a:t>
            </a:r>
          </a:p>
          <a:p>
            <a:r>
              <a:rPr lang="en-IN" sz="1400" dirty="0">
                <a:solidFill>
                  <a:srgbClr val="002060"/>
                </a:solidFill>
                <a:latin typeface="+mj-lt"/>
              </a:rPr>
              <a:t>    .option("path", "/output/parquet/") \</a:t>
            </a:r>
          </a:p>
          <a:p>
            <a:r>
              <a:rPr lang="en-IN" sz="1400" dirty="0">
                <a:solidFill>
                  <a:srgbClr val="002060"/>
                </a:solidFill>
                <a:latin typeface="+mj-lt"/>
              </a:rPr>
              <a:t>    .option("</a:t>
            </a:r>
            <a:r>
              <a:rPr lang="en-IN" sz="1400" dirty="0" err="1">
                <a:solidFill>
                  <a:srgbClr val="002060"/>
                </a:solidFill>
                <a:latin typeface="+mj-lt"/>
              </a:rPr>
              <a:t>checkpointLocation</a:t>
            </a:r>
            <a:r>
              <a:rPr lang="en-IN" sz="1400" dirty="0">
                <a:solidFill>
                  <a:srgbClr val="002060"/>
                </a:solidFill>
                <a:latin typeface="+mj-lt"/>
              </a:rPr>
              <a:t>", "/checkpoint/</a:t>
            </a:r>
            <a:r>
              <a:rPr lang="en-IN" sz="1400" dirty="0" err="1">
                <a:solidFill>
                  <a:srgbClr val="002060"/>
                </a:solidFill>
                <a:latin typeface="+mj-lt"/>
              </a:rPr>
              <a:t>my_stream</a:t>
            </a:r>
            <a:r>
              <a:rPr lang="en-IN" sz="1400" dirty="0">
                <a:solidFill>
                  <a:srgbClr val="002060"/>
                </a:solidFill>
                <a:latin typeface="+mj-lt"/>
              </a:rPr>
              <a:t>/") \</a:t>
            </a:r>
          </a:p>
          <a:p>
            <a:r>
              <a:rPr lang="en-IN" sz="1400" dirty="0">
                <a:solidFill>
                  <a:srgbClr val="002060"/>
                </a:solidFill>
                <a:latin typeface="+mj-lt"/>
              </a:rPr>
              <a:t>    .start()</a:t>
            </a:r>
          </a:p>
        </p:txBody>
      </p:sp>
    </p:spTree>
    <p:extLst>
      <p:ext uri="{BB962C8B-B14F-4D97-AF65-F5344CB8AC3E}">
        <p14:creationId xmlns:p14="http://schemas.microsoft.com/office/powerpoint/2010/main" val="5158423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704088"/>
            <a:ext cx="8938727" cy="1143000"/>
          </a:xfrm>
        </p:spPr>
        <p:txBody>
          <a:bodyPr>
            <a:normAutofit/>
          </a:bodyPr>
          <a:lstStyle/>
          <a:p>
            <a:r>
              <a:rPr sz="4000" b="1" dirty="0"/>
              <a:t>What is Windowing in Spark Streaming?</a:t>
            </a:r>
            <a:endParaRPr sz="44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+mj-lt"/>
              </a:rPr>
              <a:t>Windowing allows processing of data within a specific time range.</a:t>
            </a:r>
          </a:p>
          <a:p>
            <a:r>
              <a:rPr dirty="0">
                <a:latin typeface="+mj-lt"/>
              </a:rPr>
              <a:t>Helps in analyzing time-based events efficiently.</a:t>
            </a:r>
          </a:p>
          <a:p>
            <a:r>
              <a:rPr dirty="0">
                <a:latin typeface="+mj-lt"/>
              </a:rPr>
              <a:t>Commonly used for aggregations, trend analysis, and pattern detection.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6398" y="362124"/>
            <a:ext cx="8909522" cy="1138171"/>
          </a:xfrm>
        </p:spPr>
        <p:txBody>
          <a:bodyPr>
            <a:noAutofit/>
          </a:bodyPr>
          <a:lstStyle/>
          <a:p>
            <a:r>
              <a:rPr lang="en-US" sz="3200" b="1" dirty="0"/>
              <a:t>Types of Windowing in Spark Structured Streaming</a:t>
            </a:r>
            <a:endParaRPr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>
                <a:latin typeface="+mj-lt"/>
              </a:rPr>
              <a:t>1. Tumbling Window</a:t>
            </a:r>
            <a:endParaRPr lang="en-IN" dirty="0">
              <a:latin typeface="+mj-lt"/>
            </a:endParaRPr>
          </a:p>
          <a:p>
            <a:r>
              <a:rPr lang="en-IN" b="1" dirty="0">
                <a:latin typeface="+mj-lt"/>
              </a:rPr>
              <a:t>2.</a:t>
            </a:r>
            <a:r>
              <a:rPr lang="en-IN" dirty="0">
                <a:latin typeface="+mj-lt"/>
              </a:rPr>
              <a:t> </a:t>
            </a:r>
            <a:r>
              <a:rPr lang="en-IN" b="1" dirty="0">
                <a:latin typeface="+mj-lt"/>
              </a:rPr>
              <a:t>Sliding Window</a:t>
            </a:r>
          </a:p>
          <a:p>
            <a:r>
              <a:rPr lang="en-IN" b="1" dirty="0">
                <a:latin typeface="+mj-lt"/>
              </a:rPr>
              <a:t>3.</a:t>
            </a:r>
            <a:r>
              <a:rPr lang="en-IN" dirty="0">
                <a:latin typeface="+mj-lt"/>
              </a:rPr>
              <a:t> </a:t>
            </a:r>
            <a:r>
              <a:rPr lang="en-IN" b="1" dirty="0">
                <a:latin typeface="+mj-lt"/>
              </a:rPr>
              <a:t>Session Window</a:t>
            </a:r>
          </a:p>
          <a:p>
            <a:r>
              <a:rPr lang="en-US" b="1" dirty="0">
                <a:latin typeface="+mj-lt"/>
              </a:rPr>
              <a:t>4. Watermarking (Not a window type but related)</a:t>
            </a:r>
          </a:p>
          <a:p>
            <a:endParaRPr lang="en-US" b="1" dirty="0">
              <a:latin typeface="+mj-lt"/>
            </a:endParaRPr>
          </a:p>
          <a:p>
            <a:endParaRPr lang="en-IN" b="1" dirty="0">
              <a:latin typeface="+mj-lt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78ABD1A-4901-DFF3-A910-5964D707AF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3058" y="3561884"/>
            <a:ext cx="6857326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Helps handle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late data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Defines how long Spark waits for late data before finalizing a window.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df.withWatermark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("timestamp", "10 minutes")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Tumbling Windows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+mj-lt"/>
              </a:rPr>
              <a:t>Fixed-size, non-overlapping time intervals.</a:t>
            </a:r>
          </a:p>
          <a:p>
            <a:r>
              <a:rPr dirty="0">
                <a:latin typeface="+mj-lt"/>
              </a:rPr>
              <a:t>Each window processes events occurring within that time frame.</a:t>
            </a:r>
          </a:p>
          <a:p>
            <a:r>
              <a:rPr dirty="0">
                <a:latin typeface="+mj-lt"/>
              </a:rPr>
              <a:t>Example: Counting events every 10 seconds.</a:t>
            </a:r>
          </a:p>
          <a:p>
            <a:r>
              <a:rPr dirty="0">
                <a:latin typeface="+mj-lt"/>
              </a:rPr>
              <a:t>Example Code:</a:t>
            </a:r>
          </a:p>
          <a:p>
            <a:r>
              <a:rPr dirty="0" err="1">
                <a:latin typeface="+mj-lt"/>
              </a:rPr>
              <a:t>windowed_df</a:t>
            </a:r>
            <a:r>
              <a:rPr dirty="0">
                <a:latin typeface="+mj-lt"/>
              </a:rPr>
              <a:t> = </a:t>
            </a:r>
            <a:r>
              <a:rPr dirty="0" err="1">
                <a:latin typeface="+mj-lt"/>
              </a:rPr>
              <a:t>df.groupBy</a:t>
            </a:r>
            <a:r>
              <a:rPr dirty="0">
                <a:latin typeface="+mj-lt"/>
              </a:rPr>
              <a:t>(window("timestamp", "10 seconds")).count()</a:t>
            </a:r>
          </a:p>
        </p:txBody>
      </p:sp>
    </p:spTree>
    <p:extLst>
      <p:ext uri="{BB962C8B-B14F-4D97-AF65-F5344CB8AC3E}">
        <p14:creationId xmlns:p14="http://schemas.microsoft.com/office/powerpoint/2010/main" val="27192433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Sliding Windows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+mj-lt"/>
              </a:rPr>
              <a:t>Fixed-size windows that slide at a defined interval.</a:t>
            </a:r>
          </a:p>
          <a:p>
            <a:r>
              <a:rPr dirty="0">
                <a:latin typeface="+mj-lt"/>
              </a:rPr>
              <a:t>Overlapping time windows allow event processing multiple times.</a:t>
            </a:r>
          </a:p>
          <a:p>
            <a:r>
              <a:rPr dirty="0">
                <a:latin typeface="+mj-lt"/>
              </a:rPr>
              <a:t>Example: Counting events every 10 seconds with a slide interval of 5 seconds.</a:t>
            </a:r>
          </a:p>
          <a:p>
            <a:r>
              <a:rPr dirty="0">
                <a:latin typeface="+mj-lt"/>
              </a:rPr>
              <a:t>Example Code:</a:t>
            </a:r>
          </a:p>
          <a:p>
            <a:r>
              <a:rPr dirty="0" err="1">
                <a:latin typeface="+mj-lt"/>
              </a:rPr>
              <a:t>windowed_df</a:t>
            </a:r>
            <a:r>
              <a:rPr dirty="0">
                <a:latin typeface="+mj-lt"/>
              </a:rPr>
              <a:t> = </a:t>
            </a:r>
            <a:r>
              <a:rPr dirty="0" err="1">
                <a:latin typeface="+mj-lt"/>
              </a:rPr>
              <a:t>df.groupBy</a:t>
            </a:r>
            <a:r>
              <a:rPr dirty="0">
                <a:latin typeface="+mj-lt"/>
              </a:rPr>
              <a:t>(window("timestamp", "10 seconds", "5 seconds")).count()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Session Windows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+mj-lt"/>
              </a:rPr>
              <a:t>Dynamic-sized windows based on user activity.</a:t>
            </a:r>
          </a:p>
          <a:p>
            <a:r>
              <a:rPr dirty="0">
                <a:latin typeface="+mj-lt"/>
              </a:rPr>
              <a:t>A session window closes when there is inactivity beyond a threshold.</a:t>
            </a:r>
          </a:p>
          <a:p>
            <a:r>
              <a:rPr dirty="0">
                <a:latin typeface="+mj-lt"/>
              </a:rPr>
              <a:t>Example: Tracking user sessions with a timeout of 30 minutes.</a:t>
            </a:r>
          </a:p>
          <a:p>
            <a:r>
              <a:rPr dirty="0">
                <a:latin typeface="+mj-lt"/>
              </a:rPr>
              <a:t>Example Code:</a:t>
            </a:r>
          </a:p>
          <a:p>
            <a:r>
              <a:rPr dirty="0" err="1">
                <a:latin typeface="+mj-lt"/>
              </a:rPr>
              <a:t>windowed_df</a:t>
            </a:r>
            <a:r>
              <a:rPr dirty="0">
                <a:latin typeface="+mj-lt"/>
              </a:rPr>
              <a:t> = </a:t>
            </a:r>
            <a:r>
              <a:rPr dirty="0" err="1">
                <a:latin typeface="+mj-lt"/>
              </a:rPr>
              <a:t>df.groupBy</a:t>
            </a:r>
            <a:r>
              <a:rPr dirty="0">
                <a:latin typeface="+mj-lt"/>
              </a:rPr>
              <a:t>(</a:t>
            </a:r>
            <a:r>
              <a:rPr dirty="0" err="1">
                <a:latin typeface="+mj-lt"/>
              </a:rPr>
              <a:t>session_window</a:t>
            </a:r>
            <a:r>
              <a:rPr dirty="0">
                <a:latin typeface="+mj-lt"/>
              </a:rPr>
              <a:t>("timestamp", "30 minutes")).count()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789893" y="1076734"/>
            <a:ext cx="7523684" cy="499429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15760"/>
            <a:ext cx="8229600" cy="4389120"/>
          </a:xfrm>
        </p:spPr>
        <p:txBody>
          <a:bodyPr>
            <a:noAutofit/>
          </a:bodyPr>
          <a:lstStyle/>
          <a:p>
            <a:r>
              <a:rPr lang="en-US" sz="2000" b="1" dirty="0">
                <a:latin typeface="+mj-lt"/>
              </a:rPr>
              <a:t>Tumbling windows </a:t>
            </a:r>
            <a:r>
              <a:rPr lang="en-US" sz="2000" dirty="0">
                <a:latin typeface="+mj-lt"/>
              </a:rPr>
              <a:t>are a series of fixed-sized, non-overlapping and contiguous time intervals. An input can only be bound to a single window.</a:t>
            </a:r>
          </a:p>
          <a:p>
            <a:r>
              <a:rPr lang="en-US" sz="2000" b="1" dirty="0">
                <a:latin typeface="+mj-lt"/>
              </a:rPr>
              <a:t>Sliding windows</a:t>
            </a:r>
            <a:r>
              <a:rPr lang="en-US" sz="2000" dirty="0">
                <a:latin typeface="+mj-lt"/>
              </a:rPr>
              <a:t> are similar to the tumbling windows from the point of being “fixed-sized”, but windows can overlap if the duration of slide is smaller than the duration of window, and in this case an input can be bound to the multiple windows.</a:t>
            </a:r>
          </a:p>
          <a:p>
            <a:r>
              <a:rPr lang="en-US" sz="2000" b="1" dirty="0">
                <a:latin typeface="+mj-lt"/>
              </a:rPr>
              <a:t>Tumbling and sliding window</a:t>
            </a:r>
            <a:r>
              <a:rPr lang="en-US" sz="2000" dirty="0">
                <a:latin typeface="+mj-lt"/>
              </a:rPr>
              <a:t> use window function, which has been described on above examples.</a:t>
            </a:r>
          </a:p>
          <a:p>
            <a:r>
              <a:rPr lang="en-US" sz="2000" b="1" dirty="0">
                <a:latin typeface="+mj-lt"/>
              </a:rPr>
              <a:t>Session windows</a:t>
            </a:r>
            <a:r>
              <a:rPr lang="en-US" sz="2000" dirty="0">
                <a:latin typeface="+mj-lt"/>
              </a:rPr>
              <a:t> have different characteristic compared to the previous two types. Session window has a dynamic size of the window length, depending on the inputs. A session window starts with an input, and expands itself if following input has been received within gap duration. For static gap duration, a session window closes when there’s no input received within gap duration after receiving the latest input.</a:t>
            </a:r>
          </a:p>
          <a:p>
            <a:r>
              <a:rPr lang="en-US" sz="2000" b="1" dirty="0">
                <a:latin typeface="+mj-lt"/>
              </a:rPr>
              <a:t>Session window</a:t>
            </a:r>
            <a:r>
              <a:rPr lang="en-US" sz="2000" dirty="0">
                <a:latin typeface="+mj-lt"/>
              </a:rPr>
              <a:t> uses </a:t>
            </a:r>
            <a:r>
              <a:rPr lang="en-US" sz="2000" dirty="0" err="1">
                <a:latin typeface="+mj-lt"/>
              </a:rPr>
              <a:t>session_window</a:t>
            </a:r>
            <a:r>
              <a:rPr lang="en-US" sz="2000" dirty="0">
                <a:latin typeface="+mj-lt"/>
              </a:rPr>
              <a:t> function. The usage of the function is similar to the window function.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Use Cases of Windowing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+mj-lt"/>
              </a:rPr>
              <a:t>Fraud detection in real-time transactions.</a:t>
            </a:r>
          </a:p>
          <a:p>
            <a:r>
              <a:rPr dirty="0">
                <a:latin typeface="+mj-lt"/>
              </a:rPr>
              <a:t>Log analysis and monitoring.</a:t>
            </a:r>
          </a:p>
          <a:p>
            <a:r>
              <a:rPr dirty="0">
                <a:latin typeface="+mj-lt"/>
              </a:rPr>
              <a:t>Real-time user engagement tracking.</a:t>
            </a:r>
          </a:p>
          <a:p>
            <a:r>
              <a:rPr dirty="0">
                <a:latin typeface="+mj-lt"/>
              </a:rPr>
              <a:t>IoT sensor data processing.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Thank You!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+mj-lt"/>
              </a:rPr>
              <a:t>Happy Learning 😊</a:t>
            </a:r>
          </a:p>
          <a:p>
            <a:r>
              <a:rPr dirty="0">
                <a:latin typeface="+mj-lt"/>
              </a:rPr>
              <a:t>Feel free to ask any questions!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1127</TotalTime>
  <Words>1045</Words>
  <Application>Microsoft Office PowerPoint</Application>
  <PresentationFormat>On-screen Show (4:3)</PresentationFormat>
  <Paragraphs>127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Constantia</vt:lpstr>
      <vt:lpstr>Wingdings 2</vt:lpstr>
      <vt:lpstr>Flow</vt:lpstr>
      <vt:lpstr>Spark Streaming and Windowing</vt:lpstr>
      <vt:lpstr>What is Spark Streaming?</vt:lpstr>
      <vt:lpstr>PySpark Code: Kafka → JSON Parsing → Parquet  </vt:lpstr>
      <vt:lpstr>Checkpointing in Spark Streaming</vt:lpstr>
      <vt:lpstr>How to enable Checkpointing in Spark Streaming?</vt:lpstr>
      <vt:lpstr>What is Windowing in Spark Streaming?</vt:lpstr>
      <vt:lpstr>Types of Windowing in Spark Structured Streaming</vt:lpstr>
      <vt:lpstr>Tumbling Windows</vt:lpstr>
      <vt:lpstr>Sliding Windows</vt:lpstr>
      <vt:lpstr>Session Windows</vt:lpstr>
      <vt:lpstr>PowerPoint Presentation</vt:lpstr>
      <vt:lpstr>PowerPoint Presentation</vt:lpstr>
      <vt:lpstr>Use Cases of Windowing</vt:lpstr>
      <vt:lpstr>Thank You!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Spark Streaming and Windowing</dc:title>
  <dc:subject/>
  <dc:creator/>
  <cp:keywords/>
  <dc:description>generated using python-pptx</dc:description>
  <cp:lastModifiedBy>Anamika Singh</cp:lastModifiedBy>
  <cp:revision>8</cp:revision>
  <dcterms:created xsi:type="dcterms:W3CDTF">2013-01-27T09:14:16Z</dcterms:created>
  <dcterms:modified xsi:type="dcterms:W3CDTF">2025-05-12T12:12:24Z</dcterms:modified>
  <cp:category/>
</cp:coreProperties>
</file>